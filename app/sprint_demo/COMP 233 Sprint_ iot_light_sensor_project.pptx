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Raleway"/>
      <p:regular r:id="rId22"/>
      <p:bold r:id="rId23"/>
      <p:italic r:id="rId24"/>
      <p:boldItalic r:id="rId25"/>
    </p:embeddedFont>
    <p:embeddedFont>
      <p:font typeface="Roboto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FD571E-862E-4016-B84C-95D62714C0BC}">
  <a:tblStyle styleId="{E2FD571E-862E-4016-B84C-95D62714C0B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aleway-regular.fntdata"/><Relationship Id="rId21" Type="http://schemas.openxmlformats.org/officeDocument/2006/relationships/slide" Target="slides/slide15.xml"/><Relationship Id="rId24" Type="http://schemas.openxmlformats.org/officeDocument/2006/relationships/font" Target="fonts/Raleway-italic.fntdata"/><Relationship Id="rId23" Type="http://schemas.openxmlformats.org/officeDocument/2006/relationships/font" Target="fonts/Ralew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regular.fntdata"/><Relationship Id="rId25" Type="http://schemas.openxmlformats.org/officeDocument/2006/relationships/font" Target="fonts/Raleway-boldItalic.fntdata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5.xml"/><Relationship Id="rId33" Type="http://schemas.openxmlformats.org/officeDocument/2006/relationships/font" Target="fonts/Lato-boldItalic.fntdata"/><Relationship Id="rId10" Type="http://schemas.openxmlformats.org/officeDocument/2006/relationships/slide" Target="slides/slide4.xml"/><Relationship Id="rId32" Type="http://schemas.openxmlformats.org/officeDocument/2006/relationships/font" Target="fonts/La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5fbe8187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c5fbe8187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that the u</a:t>
            </a:r>
            <a:r>
              <a:rPr lang="en-GB"/>
              <a:t>ser faces is that they don’t know if lights are left on. Which means wasted energy = higher bills.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Therefore the main features that </a:t>
            </a:r>
            <a:r>
              <a:rPr lang="en-GB"/>
              <a:t>should be implemented when building this sensor system is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Some classmates suggested additional: </a:t>
            </a:r>
            <a:r>
              <a:rPr lang="en-GB">
                <a:solidFill>
                  <a:srgbClr val="1D1C1D"/>
                </a:solidFill>
              </a:rPr>
              <a:t>Automated schedules  and </a:t>
            </a:r>
            <a:r>
              <a:rPr lang="en-GB"/>
              <a:t> </a:t>
            </a:r>
            <a:r>
              <a:rPr lang="en-GB">
                <a:solidFill>
                  <a:srgbClr val="1D1C1D"/>
                </a:solidFill>
              </a:rPr>
              <a:t>Remote control - Check/control lights away from home</a:t>
            </a:r>
            <a:endParaRPr>
              <a:solidFill>
                <a:srgbClr val="1D1C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Also some hardware requirements: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Do we only detect state, or also control it?</a:t>
            </a:r>
            <a:endParaRPr sz="13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Battery-powered or wall-powered?</a:t>
            </a:r>
            <a:endParaRPr sz="13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Wi-Fi, Bluetooth, or local-only?</a:t>
            </a:r>
            <a:endParaRPr sz="13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Accuracy? ±5% or ±20% okay?</a:t>
            </a:r>
            <a:endParaRPr sz="13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Safety?</a:t>
            </a:r>
            <a:endParaRPr sz="13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5fbe8187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c5fbe8187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O</a:t>
            </a:r>
            <a:r>
              <a:rPr b="1" lang="en-GB" sz="1300">
                <a:solidFill>
                  <a:schemeClr val="dk1"/>
                </a:solidFill>
              </a:rPr>
              <a:t>ption A — Simple LDR / photoresistor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Pros: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cheap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easy analog read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good for just “on/off” detection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Cons: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poor accuracy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nonlinear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temperature sensitive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not true lux measurement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Use when: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👉 “just detect if light is on”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Option B — Photodiode / phototransistor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Pros: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faster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more linear than LDR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still cheap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Cons: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still needs calibration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not directly lux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more analog design work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Use when: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👉 mid accuracy, custom circuit OK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5fbe81879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c5fbe81879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</a:t>
            </a:r>
            <a:r>
              <a:rPr lang="en-GB"/>
              <a:t>e’ll compare them based on accuracy, true lux capability, cost, reliability for a product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Analog light sensors (LDR, phototransistor, TEMT6000) provide only relative brightness and require calibration. Digital I²C ambient light sensors (BH1750, OPT3001, VEML7700) provide calibrated lux readings, simpler firmware, and higher reliability. Therefore, we recommend selecting a digital I²C lux sensor for this system.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Why Digital Lux Sensors Are Best Used For IoT…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→ Provide calibrated, noise-resistant digital measurements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→ Scale reliably across many devices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→ Simplifies integration, maintenance, and long-term operation.</a:t>
            </a:r>
            <a:br>
              <a:rPr lang="en-GB"/>
            </a:br>
            <a:br>
              <a:rPr lang="en-GB"/>
            </a:br>
            <a:r>
              <a:rPr lang="en-GB">
                <a:solidFill>
                  <a:schemeClr val="dk1"/>
                </a:solidFill>
              </a:rPr>
              <a:t>the DevOps team recommends adopting the STEMMA QT / Qwiic (I2C) ecosystem. This allows for a 100% no-solder build, reducing physical hardware bugs</a:t>
            </a:r>
            <a:br>
              <a:rPr lang="en-GB">
                <a:solidFill>
                  <a:schemeClr val="dk1"/>
                </a:solidFill>
              </a:rPr>
            </a:b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Notes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STEMMA QT (Adafruit) and Qwiic (SparkFun) are interchangeable, plug-and-play connection systems using 4-pin JST SH (1mm pitch) connectors for I2C devices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603c200f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c603c200f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Circuit Diagram</a:t>
            </a:r>
            <a:br>
              <a:rPr lang="en-GB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GB" sz="13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1. Microcontroller —  </a:t>
            </a:r>
            <a:r>
              <a:rPr b="1" lang="en-GB">
                <a:solidFill>
                  <a:schemeClr val="dk1"/>
                </a:solidFill>
              </a:rPr>
              <a:t>ESP32 vs Raspberry Pi Pico W:</a:t>
            </a:r>
            <a:r>
              <a:rPr lang="en-GB">
                <a:solidFill>
                  <a:schemeClr val="dk1"/>
                </a:solidFill>
              </a:rPr>
              <a:t>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We evaluated both the Raspberry Pi Pico W and the ESP32 as our main controller. Our device needs to read multiple sensors at the same time, manage Wi-Fi communication, handle encryption, and potentially control lights in real time. So we needed something that’s more than just a basic microcontroller. The Pico W is simpler and cheaper, but it has less memory, fewer built-in security features, and is more limited for multitasking. It’s better for small single-purpose projects.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 ESP32 gives us dual-core processing, so one core can handle sensor timing while the other handles networking. It also has built-in Wi-Fi and Bluetooth, hardware encryption, and significantly more RAM, which makes it better suited for a connected IoT system like ours.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Programming: Supports CircuitPython. The board acts as a USB drive; code is updated by dragging a code.py file onto the device. For a backend or DevOps developer, it handles Wi-Fi and JSON requests exactly like a standard Python script.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So overall, ESP32 gives us better performance, better security, and easier integration — which makes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 ESP32 timestamp readings in NTP( Network Time Protocol) </a:t>
            </a:r>
            <a:r>
              <a:rPr lang="en-GB" sz="1200">
                <a:solidFill>
                  <a:srgbClr val="E6E8F0"/>
                </a:solidFill>
                <a:highlight>
                  <a:srgbClr val="1F1F1F"/>
                </a:highlight>
                <a:latin typeface="Roboto"/>
                <a:ea typeface="Roboto"/>
                <a:cs typeface="Roboto"/>
                <a:sym typeface="Roboto"/>
              </a:rPr>
              <a:t>synchronizes computer system clocks to within milliseconds of Coordinated Universal Time (UTC)</a:t>
            </a:r>
            <a:endParaRPr sz="1200">
              <a:solidFill>
                <a:srgbClr val="E6E8F0"/>
              </a:solidFill>
              <a:highlight>
                <a:srgbClr val="1F1F1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that will have to be coded to UTC, and send structured JSON via HTTPS every second. You don’t have to interact with hardware — you just need WIFI to receive standardized API data.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2. Light Sensor — VEML7700 / BH1750 they are digital lux sensors so  I²C (easy wiring) and High accuracy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3. Energy Consumption — INA219/</a:t>
            </a:r>
            <a:r>
              <a:rPr lang="en-GB">
                <a:solidFill>
                  <a:srgbClr val="1D1C1D"/>
                </a:solidFill>
              </a:rPr>
              <a:t>INA226:  Measures current + voltage + power</a:t>
            </a:r>
            <a:endParaRPr>
              <a:solidFill>
                <a:srgbClr val="1D1C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1D1C1D"/>
                </a:solidFill>
              </a:rPr>
              <a:t>✅ Digital I²C</a:t>
            </a:r>
            <a:endParaRPr>
              <a:solidFill>
                <a:srgbClr val="1D1C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1D1C1D"/>
                </a:solidFill>
              </a:rPr>
              <a:t>✅ Built-in math (gives watts directly)</a:t>
            </a:r>
            <a:endParaRPr>
              <a:solidFill>
                <a:srgbClr val="1D1C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D1C1D"/>
                </a:solidFill>
              </a:rPr>
              <a:t>✅ Safe low-voltage sensing</a:t>
            </a:r>
            <a:endParaRPr>
              <a:solidFill>
                <a:srgbClr val="1D1C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 INA219 is </a:t>
            </a:r>
            <a:r>
              <a:rPr b="1" lang="en-GB">
                <a:solidFill>
                  <a:schemeClr val="dk1"/>
                </a:solidFill>
              </a:rPr>
              <a:t>low-voltage only. </a:t>
            </a:r>
            <a:r>
              <a:rPr lang="en-GB">
                <a:solidFill>
                  <a:schemeClr val="dk1"/>
                </a:solidFill>
              </a:rPr>
              <a:t>That’s why, in a sprint/prototype, you use </a:t>
            </a:r>
            <a:r>
              <a:rPr b="1" lang="en-GB">
                <a:solidFill>
                  <a:schemeClr val="dk1"/>
                </a:solidFill>
              </a:rPr>
              <a:t>DC-powered lights</a:t>
            </a:r>
            <a:r>
              <a:rPr lang="en-GB">
                <a:solidFill>
                  <a:schemeClr val="dk1"/>
                </a:solidFill>
              </a:rPr>
              <a:t> (like LED strips) or a </a:t>
            </a:r>
            <a:r>
              <a:rPr b="1" lang="en-GB">
                <a:solidFill>
                  <a:schemeClr val="dk1"/>
                </a:solidFill>
              </a:rPr>
              <a:t>smart bulb. Most smart bulbs are designed for 120V/230V AC mains power but convert it internally to low-voltage DC to run the LED diodes and Wi-Fi components.</a:t>
            </a:r>
            <a:br>
              <a:rPr b="1"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4. Motion Sensor — PIR: radar sensor were suggested and they are nice b/c detect micro-movements (like breathing) and works through thin walls but there are also lots of false positives and uses lots of power. PIR sensors provide reliable, low-power presence detection with minimal false positives and simple digital integration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5. Smart Bulb (for sprint):</a:t>
            </a:r>
            <a:r>
              <a:rPr lang="en-GB" sz="800">
                <a:solidFill>
                  <a:schemeClr val="dk1"/>
                </a:solidFill>
              </a:rPr>
              <a:t> </a:t>
            </a:r>
            <a:r>
              <a:rPr lang="en-GB" sz="1000">
                <a:solidFill>
                  <a:schemeClr val="dk1"/>
                </a:solidFill>
              </a:rPr>
              <a:t>Some had suggested using Traic but you would be </a:t>
            </a:r>
            <a:r>
              <a:rPr lang="en-GB">
                <a:solidFill>
                  <a:schemeClr val="dk1"/>
                </a:solidFill>
              </a:rPr>
              <a:t>introducing </a:t>
            </a:r>
            <a:r>
              <a:rPr lang="en-GB">
                <a:solidFill>
                  <a:schemeClr val="dk1"/>
                </a:solidFill>
              </a:rPr>
              <a:t>high-voltage hardware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✅ zero wiring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✅ safe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✅ fast to test app control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✅ immediate Wi-Fi control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✅ lets team focus on sensing + software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Goal is to test quickly, find challenges with a basic </a:t>
            </a:r>
            <a:r>
              <a:rPr lang="en-GB">
                <a:solidFill>
                  <a:schemeClr val="dk1"/>
                </a:solidFill>
              </a:rPr>
              <a:t>plug-and-play digital sensors</a:t>
            </a:r>
            <a:r>
              <a:rPr lang="en-GB">
                <a:solidFill>
                  <a:schemeClr val="dk1"/>
                </a:solidFill>
              </a:rPr>
              <a:t> </a:t>
            </a:r>
            <a:r>
              <a:rPr lang="en-GB">
                <a:solidFill>
                  <a:schemeClr val="dk1"/>
                </a:solidFill>
              </a:rPr>
              <a:t> Once the sensing and control are solid, then we can add the triac dimmer. It’s safer and lets us move quicker this sprint.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c5fbe8187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c5fbe8187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c6ded8869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c6ded886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7" name="Google Shape;27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Google Shape;29;p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atraj.github.io/Demo-IOT-lightSensor.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ocs.google.com/spreadsheets/d/18N90gzwueGNGN6sgU60NSJzQBr5-6wltv_9ggF__2bU/edit?gid=635580467#gid=635580467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311700" y="192950"/>
            <a:ext cx="8520600" cy="16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GB"/>
              <a:t>IoT Light Sensor Dashboard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311700" y="208097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Sprint 1 – Product &amp; Deployment Update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850675" y="3882475"/>
            <a:ext cx="5049300" cy="9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Presented by Product owner and Design team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7650" y="15302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-GB">
                <a:solidFill>
                  <a:schemeClr val="dk2"/>
                </a:solidFill>
              </a:rPr>
              <a:t>Sprint #1: Light Status Visualization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311700" y="1152475"/>
            <a:ext cx="85206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729450" y="2432925"/>
            <a:ext cx="6981300" cy="16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Validate how light status will be displayed to users using mock data.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2760"/>
              <a:t>What we are demoing today</a:t>
            </a:r>
            <a:endParaRPr sz="2760"/>
          </a:p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729450" y="2078875"/>
            <a:ext cx="7217100" cy="26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GB" sz="1500">
                <a:solidFill>
                  <a:schemeClr val="dk1"/>
                </a:solidFill>
              </a:rPr>
              <a:t>Room light status visualization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Brightness and ON/OFF state using mock data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Dashboard UI layout (early version)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Completed: #15 #16 #17 #19 #20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3174"/>
              <a:buNone/>
            </a:pPr>
            <a:r>
              <a:rPr lang="en-GB" sz="2800">
                <a:solidFill>
                  <a:schemeClr val="dk1"/>
                </a:solidFill>
              </a:rPr>
              <a:t>Progress</a:t>
            </a:r>
            <a:r>
              <a:rPr lang="en-GB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lang="en-GB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Dashboard UI is functional with mock light data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Light ON/OFF status and brightness are displayed correctly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Static dashboard is hosted and accessible for demo</a:t>
            </a:r>
            <a:endParaRPr sz="1500"/>
          </a:p>
          <a:p>
            <a:pPr indent="0" lvl="0" marL="146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3174"/>
              <a:buNone/>
            </a:pPr>
            <a:r>
              <a:rPr lang="en-GB" sz="2800">
                <a:solidFill>
                  <a:schemeClr val="dk1"/>
                </a:solidFill>
              </a:rPr>
              <a:t>Planned</a:t>
            </a:r>
            <a:r>
              <a:rPr lang="en-GB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br>
              <a:rPr lang="en-GB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-GB" sz="1500"/>
              <a:t>Integrate real or simulated backend sensor data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-GB" sz="1500"/>
              <a:t>Connect the dashboard to APIs or live data endpoints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-GB" sz="1500"/>
              <a:t>Improve UI based on feedback from the Sprint 1 demo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3174"/>
              <a:buNone/>
            </a:pPr>
            <a:r>
              <a:rPr lang="en-GB" sz="2800">
                <a:solidFill>
                  <a:schemeClr val="dk1"/>
                </a:solidFill>
              </a:rPr>
              <a:t>Blocked:</a:t>
            </a:r>
            <a:br>
              <a:rPr lang="en-GB" sz="2800">
                <a:solidFill>
                  <a:schemeClr val="dk1"/>
                </a:solidFill>
              </a:rPr>
            </a:br>
            <a:endParaRPr/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Backend and sensor data integration depends on coordination with other teams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GB" sz="1500"/>
              <a:t>Delays in task ownership and communication between teams</a:t>
            </a:r>
            <a:endParaRPr sz="1500"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-GB" sz="3478"/>
              <a:t>Live demo</a:t>
            </a:r>
            <a:endParaRPr sz="3478"/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en-GB" sz="2400" u="sng">
                <a:solidFill>
                  <a:schemeClr val="hlink"/>
                </a:solidFill>
                <a:hlinkClick r:id="rId3"/>
              </a:rPr>
              <a:t>https://gatraj.github.io/Demo-IOT-lightSensor./</a:t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2"/>
                </a:solidFill>
              </a:rPr>
              <a:t>From Sprint 1</a:t>
            </a:r>
            <a:endParaRPr/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GB" sz="1800"/>
              <a:t>From Sprint 1, we learned that validating the UI early is important before connecting live data.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n-GB" sz="1800"/>
              <a:t>Backend integration will be addressed once the code is fully tested and stable.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 sz="2960">
                <a:solidFill>
                  <a:schemeClr val="dk2"/>
                </a:solidFill>
              </a:rPr>
              <a:t>Sprint #2</a:t>
            </a:r>
            <a:endParaRPr sz="2960"/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/>
              <a:t>In Sprint 2, our focus will be on: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/>
              <a:t>Integrating the dashboard with backend APIs</a:t>
            </a:r>
            <a:br>
              <a:rPr lang="en-GB" sz="1500"/>
            </a:b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/>
              <a:t>Replacing mock data with live sensor data</a:t>
            </a:r>
            <a:br>
              <a:rPr lang="en-GB" sz="1500"/>
            </a:b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/>
              <a:t>Deploying the fully functional dashboard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Sprint #2: </a:t>
            </a:r>
            <a:r>
              <a:rPr lang="en-GB"/>
              <a:t>Features</a:t>
            </a:r>
            <a:endParaRPr/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729450" y="2078875"/>
            <a:ext cx="336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User </a:t>
            </a:r>
            <a:r>
              <a:rPr b="1" lang="en-GB"/>
              <a:t>Requirements</a:t>
            </a:r>
            <a:r>
              <a:rPr b="1" lang="en-GB"/>
              <a:t> :  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Users don’t know if lights are left 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Wasted energy = higher bills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4572000" y="2078875"/>
            <a:ext cx="39960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Features: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Measure lux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Track energy consumption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Detect on/off duration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Remote dim/on/off control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Sprint #2: Light Sensors</a:t>
            </a:r>
            <a:endParaRPr/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240250" y="1966000"/>
            <a:ext cx="2864100" cy="28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</a:rPr>
              <a:t>Option A — Simple LDR / photoresistor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</a:rPr>
              <a:t>Pros:</a:t>
            </a:r>
            <a:endParaRPr sz="1100">
              <a:solidFill>
                <a:srgbClr val="000000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Char char="●"/>
            </a:pPr>
            <a:r>
              <a:rPr lang="en-GB" sz="1100">
                <a:solidFill>
                  <a:srgbClr val="000000"/>
                </a:solidFill>
              </a:rPr>
              <a:t>easy analog read</a:t>
            </a:r>
            <a:endParaRPr sz="1100">
              <a:solidFill>
                <a:srgbClr val="000000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Char char="●"/>
            </a:pPr>
            <a:r>
              <a:rPr lang="en-GB" sz="1100">
                <a:solidFill>
                  <a:srgbClr val="000000"/>
                </a:solidFill>
              </a:rPr>
              <a:t>good for just “on/off” detection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</a:rPr>
              <a:t>Cons:</a:t>
            </a:r>
            <a:endParaRPr sz="1100">
              <a:solidFill>
                <a:srgbClr val="000000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Char char="●"/>
            </a:pPr>
            <a:r>
              <a:rPr lang="en-GB" sz="1100">
                <a:solidFill>
                  <a:srgbClr val="000000"/>
                </a:solidFill>
              </a:rPr>
              <a:t>poor accuracy</a:t>
            </a:r>
            <a:endParaRPr sz="1100">
              <a:solidFill>
                <a:srgbClr val="000000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Char char="●"/>
            </a:pPr>
            <a:r>
              <a:rPr lang="en-GB" sz="1100">
                <a:solidFill>
                  <a:srgbClr val="000000"/>
                </a:solidFill>
              </a:rPr>
              <a:t>nonlinear</a:t>
            </a:r>
            <a:endParaRPr sz="1100">
              <a:solidFill>
                <a:srgbClr val="000000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Char char="●"/>
            </a:pPr>
            <a:r>
              <a:rPr lang="en-GB" sz="1100">
                <a:solidFill>
                  <a:srgbClr val="000000"/>
                </a:solidFill>
              </a:rPr>
              <a:t>temperature sensitive</a:t>
            </a:r>
            <a:endParaRPr sz="1100">
              <a:solidFill>
                <a:srgbClr val="000000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Char char="●"/>
            </a:pPr>
            <a:r>
              <a:rPr lang="en-GB" sz="1100">
                <a:solidFill>
                  <a:srgbClr val="000000"/>
                </a:solidFill>
              </a:rPr>
              <a:t>not true lux measurement</a:t>
            </a:r>
            <a:br>
              <a:rPr lang="en-GB" sz="1100">
                <a:solidFill>
                  <a:srgbClr val="000000"/>
                </a:solidFill>
              </a:rPr>
            </a:b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rgbClr val="000000"/>
                </a:solidFill>
              </a:rPr>
              <a:t>Use when:</a:t>
            </a:r>
            <a:br>
              <a:rPr lang="en-GB" sz="1100">
                <a:solidFill>
                  <a:srgbClr val="000000"/>
                </a:solidFill>
              </a:rPr>
            </a:br>
            <a:r>
              <a:rPr lang="en-GB" sz="1100">
                <a:solidFill>
                  <a:srgbClr val="000000"/>
                </a:solidFill>
              </a:rPr>
              <a:t> “just detect if light is on”</a:t>
            </a:r>
            <a:endParaRPr/>
          </a:p>
        </p:txBody>
      </p:sp>
      <p:sp>
        <p:nvSpPr>
          <p:cNvPr id="151" name="Google Shape;151;p23"/>
          <p:cNvSpPr txBox="1"/>
          <p:nvPr>
            <p:ph idx="1" type="body"/>
          </p:nvPr>
        </p:nvSpPr>
        <p:spPr>
          <a:xfrm>
            <a:off x="3270750" y="1966000"/>
            <a:ext cx="2602500" cy="28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</a:rPr>
              <a:t>Option B — Photodiode / phototransistor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</a:rPr>
              <a:t>Pros:</a:t>
            </a:r>
            <a:endParaRPr sz="1100">
              <a:solidFill>
                <a:srgbClr val="000000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Char char="●"/>
            </a:pPr>
            <a:r>
              <a:rPr lang="en-GB" sz="1100">
                <a:solidFill>
                  <a:srgbClr val="000000"/>
                </a:solidFill>
              </a:rPr>
              <a:t>faster</a:t>
            </a:r>
            <a:endParaRPr sz="1100">
              <a:solidFill>
                <a:srgbClr val="000000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Char char="●"/>
            </a:pPr>
            <a:r>
              <a:rPr lang="en-GB" sz="1100">
                <a:solidFill>
                  <a:srgbClr val="000000"/>
                </a:solidFill>
              </a:rPr>
              <a:t>more linear than LDR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</a:rPr>
              <a:t>Cons:</a:t>
            </a:r>
            <a:endParaRPr sz="1100">
              <a:solidFill>
                <a:srgbClr val="000000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Char char="●"/>
            </a:pPr>
            <a:r>
              <a:rPr lang="en-GB" sz="1100">
                <a:solidFill>
                  <a:srgbClr val="000000"/>
                </a:solidFill>
              </a:rPr>
              <a:t>still needs calibration</a:t>
            </a:r>
            <a:endParaRPr sz="1100">
              <a:solidFill>
                <a:srgbClr val="000000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Char char="●"/>
            </a:pPr>
            <a:r>
              <a:rPr lang="en-GB" sz="1100">
                <a:solidFill>
                  <a:srgbClr val="000000"/>
                </a:solidFill>
              </a:rPr>
              <a:t>not directly lux</a:t>
            </a:r>
            <a:endParaRPr sz="1100">
              <a:solidFill>
                <a:srgbClr val="000000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Char char="●"/>
            </a:pPr>
            <a:r>
              <a:rPr lang="en-GB" sz="1100">
                <a:solidFill>
                  <a:srgbClr val="000000"/>
                </a:solidFill>
              </a:rPr>
              <a:t>more analog design work</a:t>
            </a:r>
            <a:br>
              <a:rPr lang="en-GB" sz="1100">
                <a:solidFill>
                  <a:srgbClr val="000000"/>
                </a:solidFill>
              </a:rPr>
            </a:b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rgbClr val="000000"/>
                </a:solidFill>
              </a:rPr>
              <a:t>Use when:</a:t>
            </a:r>
            <a:br>
              <a:rPr lang="en-GB" sz="1100">
                <a:solidFill>
                  <a:srgbClr val="000000"/>
                </a:solidFill>
              </a:rPr>
            </a:br>
            <a:r>
              <a:rPr lang="en-GB" sz="1100">
                <a:solidFill>
                  <a:srgbClr val="000000"/>
                </a:solidFill>
              </a:rPr>
              <a:t> mid accuracy, custom circuit OK</a:t>
            </a:r>
            <a:endParaRPr b="1">
              <a:solidFill>
                <a:srgbClr val="000000"/>
              </a:solidFill>
            </a:endParaRPr>
          </a:p>
        </p:txBody>
      </p:sp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6105250" y="1966000"/>
            <a:ext cx="2864100" cy="281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</a:rPr>
              <a:t>Option C — Digital ambient light sensor IC 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</a:rPr>
              <a:t>Pros:</a:t>
            </a:r>
            <a:endParaRPr sz="1100">
              <a:solidFill>
                <a:srgbClr val="000000"/>
              </a:solidFill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Char char="●"/>
            </a:pPr>
            <a:r>
              <a:rPr lang="en-GB" sz="1100">
                <a:solidFill>
                  <a:srgbClr val="000000"/>
                </a:solidFill>
              </a:rPr>
              <a:t>outputs lux directly</a:t>
            </a:r>
            <a:endParaRPr sz="1100">
              <a:solidFill>
                <a:srgbClr val="000000"/>
              </a:solidFill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Char char="●"/>
            </a:pPr>
            <a:r>
              <a:rPr lang="en-GB" sz="1100">
                <a:solidFill>
                  <a:srgbClr val="000000"/>
                </a:solidFill>
              </a:rPr>
              <a:t>calibrated</a:t>
            </a:r>
            <a:endParaRPr sz="1100">
              <a:solidFill>
                <a:srgbClr val="000000"/>
              </a:solidFill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Char char="●"/>
            </a:pPr>
            <a:r>
              <a:rPr lang="en-GB" sz="1100">
                <a:solidFill>
                  <a:srgbClr val="000000"/>
                </a:solidFill>
              </a:rPr>
              <a:t>I²C digital</a:t>
            </a:r>
            <a:endParaRPr sz="1100">
              <a:solidFill>
                <a:srgbClr val="000000"/>
              </a:solidFill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Char char="●"/>
            </a:pPr>
            <a:r>
              <a:rPr lang="en-GB" sz="1100">
                <a:solidFill>
                  <a:srgbClr val="000000"/>
                </a:solidFill>
              </a:rPr>
              <a:t>low noise</a:t>
            </a:r>
            <a:endParaRPr sz="1100">
              <a:solidFill>
                <a:srgbClr val="000000"/>
              </a:solidFill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Char char="●"/>
            </a:pPr>
            <a:r>
              <a:rPr lang="en-GB" sz="1100">
                <a:solidFill>
                  <a:srgbClr val="000000"/>
                </a:solidFill>
              </a:rPr>
              <a:t>tiny</a:t>
            </a:r>
            <a:endParaRPr sz="1100">
              <a:solidFill>
                <a:srgbClr val="000000"/>
              </a:solidFill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Char char="●"/>
            </a:pPr>
            <a:r>
              <a:rPr lang="en-GB" sz="1100">
                <a:solidFill>
                  <a:srgbClr val="000000"/>
                </a:solidFill>
              </a:rPr>
              <a:t>super easy firmware</a:t>
            </a:r>
            <a:endParaRPr sz="1100">
              <a:solidFill>
                <a:srgbClr val="000000"/>
              </a:solidFill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Char char="●"/>
            </a:pPr>
            <a:r>
              <a:rPr lang="en-GB" sz="1100">
                <a:solidFill>
                  <a:srgbClr val="000000"/>
                </a:solidFill>
              </a:rPr>
              <a:t>production friendly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</a:rPr>
              <a:t>Cons:</a:t>
            </a:r>
            <a:endParaRPr sz="1100">
              <a:solidFill>
                <a:srgbClr val="000000"/>
              </a:solidFill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Lato"/>
              <a:buChar char="●"/>
            </a:pPr>
            <a:r>
              <a:rPr lang="en-GB" sz="1100">
                <a:solidFill>
                  <a:srgbClr val="000000"/>
                </a:solidFill>
              </a:rPr>
              <a:t>slightly more expensive 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100">
                <a:solidFill>
                  <a:srgbClr val="000000"/>
                </a:solidFill>
              </a:rPr>
              <a:t>Use when: real product, accurate measurements, minimal headaches</a:t>
            </a:r>
            <a:endParaRPr b="1">
              <a:solidFill>
                <a:srgbClr val="000000"/>
              </a:solidFill>
            </a:endParaRPr>
          </a:p>
        </p:txBody>
      </p:sp>
      <p:cxnSp>
        <p:nvCxnSpPr>
          <p:cNvPr id="153" name="Google Shape;153;p23"/>
          <p:cNvCxnSpPr/>
          <p:nvPr/>
        </p:nvCxnSpPr>
        <p:spPr>
          <a:xfrm>
            <a:off x="3104350" y="1962550"/>
            <a:ext cx="25200" cy="282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23"/>
          <p:cNvCxnSpPr/>
          <p:nvPr/>
        </p:nvCxnSpPr>
        <p:spPr>
          <a:xfrm>
            <a:off x="5926275" y="1962550"/>
            <a:ext cx="25200" cy="282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idx="4294967295" type="title"/>
          </p:nvPr>
        </p:nvSpPr>
        <p:spPr>
          <a:xfrm>
            <a:off x="205300" y="1683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Sprint #2: </a:t>
            </a:r>
            <a:r>
              <a:rPr lang="en-GB"/>
              <a:t>Light Sensor Candidates</a:t>
            </a:r>
            <a:endParaRPr/>
          </a:p>
        </p:txBody>
      </p:sp>
      <p:sp>
        <p:nvSpPr>
          <p:cNvPr id="160" name="Google Shape;160;p24"/>
          <p:cNvSpPr txBox="1"/>
          <p:nvPr/>
        </p:nvSpPr>
        <p:spPr>
          <a:xfrm>
            <a:off x="727225" y="2644475"/>
            <a:ext cx="2618100" cy="9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161" name="Google Shape;161;p24"/>
          <p:cNvGraphicFramePr/>
          <p:nvPr/>
        </p:nvGraphicFramePr>
        <p:xfrm>
          <a:off x="-9525" y="1342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{E2FD571E-862E-4016-B84C-95D62714C0BC}</a:tableStyleId>
              </a:tblPr>
              <a:tblGrid>
                <a:gridCol w="857250"/>
                <a:gridCol w="857250"/>
                <a:gridCol w="857250"/>
                <a:gridCol w="857250"/>
                <a:gridCol w="676275"/>
                <a:gridCol w="1314450"/>
                <a:gridCol w="723900"/>
                <a:gridCol w="600075"/>
                <a:gridCol w="1200150"/>
                <a:gridCol w="12192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Sensor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Type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Output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True Lux?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Accuracy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Interface Complexity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Speed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Cost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Pros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/>
                        <a:t>Cons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5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TEMT6000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Phototransistor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Analog voltage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Approx only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Medium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ADC required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Fast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$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Simple, cheap, easy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Needs calibration, nonlinear, noisy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Grove Light v1.2 (LDR)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Photoresistor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Analog resistance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No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Low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ADC required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Slow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$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Very cheap, plug &amp; play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Temp drift, slow response, poor precision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3-Channel Phototransistor Module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Multiple phototransistors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Analog (3x)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No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Medium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ADC ×3 channels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Very fast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$$$ (~$20)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Directional sensing, fast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Overkill, complex wiring, not lux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BH1750 ⭐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Digital ambient light IC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I²C (lux)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Yes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Good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Very easy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Medium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$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Direct lux output, cheap, popular, low code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Smaller dynamic range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OPT3001 ⭐⭐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Precision digital ALS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I²C (lux)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Yes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Very high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Very easy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Medium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$$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Industry grade, wide range, calibrated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Slightly pricier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VEML7700 ⭐⭐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Digital ambient light IC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I²C (lux)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Yes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Very high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Very easy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Medium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$$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Excellent low-light performance, stable, low power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Slightly pricier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F0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type="title"/>
          </p:nvPr>
        </p:nvSpPr>
        <p:spPr>
          <a:xfrm>
            <a:off x="727650" y="5956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Sprint #2: Hardware Design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5" title="ChatGPT Image Feb 5, 2026, 10_42_08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025" y="1302150"/>
            <a:ext cx="5434802" cy="362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Sprint #2: </a:t>
            </a:r>
            <a:r>
              <a:rPr lang="en-GB"/>
              <a:t>Hardware Purchase</a:t>
            </a:r>
            <a:endParaRPr/>
          </a:p>
        </p:txBody>
      </p:sp>
      <p:sp>
        <p:nvSpPr>
          <p:cNvPr id="173" name="Google Shape;173;p2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O</a:t>
            </a:r>
            <a:r>
              <a:rPr lang="en-GB" sz="1400"/>
              <a:t>nline retailers: Amazon, SparkFun, and Adafruit</a:t>
            </a:r>
            <a:endParaRPr sz="1400"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-GB" sz="1200"/>
              <a:t>Adafruit (NY-based):</a:t>
            </a:r>
            <a:r>
              <a:rPr lang="en-GB" sz="1200"/>
              <a:t> Trustpilot Score 2.6/5 (Note: primarily due to return policies; hardware is top-tier). Shipping via UPS Ground typically takes 3–5 business days.</a:t>
            </a:r>
            <a:endParaRPr sz="1200"/>
          </a:p>
          <a:p>
            <a:pPr indent="-3048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-GB" sz="1200"/>
              <a:t>SparkFun (CO-based): </a:t>
            </a:r>
            <a:r>
              <a:rPr lang="en-GB" sz="1200"/>
              <a:t>Trustpilot Score 4.7/5. Ground shipping typically takes 3–5 business days.</a:t>
            </a:r>
            <a:endParaRPr sz="1200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GB" sz="1400" u="sng">
                <a:solidFill>
                  <a:schemeClr val="hlink"/>
                </a:solidFill>
                <a:hlinkClick r:id="rId3"/>
              </a:rPr>
              <a:t>Cost Breakdown: IoT Light Sensor</a:t>
            </a:r>
            <a:endParaRPr b="1"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